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0" d="100"/>
          <a:sy n="80" d="100"/>
        </p:scale>
        <p:origin x="51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5DCBA0-6D09-4646-B87D-8640E77D10D0}" type="datetimeFigureOut">
              <a:rPr lang="en-GB" smtClean="0"/>
              <a:t>18/07/2026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8BA516-DEA2-4ADE-B4C9-976D4A9BC1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8222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BA516-DEA2-4ADE-B4C9-976D4A9BC179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24505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4F2A2-88B4-BA32-D89B-ADF302C837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4F16D6-2E23-9575-C831-15C069DF83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2BA5A-5FF3-262B-41EF-73ED6309D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B4E4E-8077-4C97-B748-CA0A93E23615}" type="datetimeFigureOut">
              <a:rPr lang="en-GB" smtClean="0"/>
              <a:t>18/07/2026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1C0B4F-D1EF-B6E5-37F9-4C49072A0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BC7A9-556A-6608-99D6-C015FE213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A142C-C709-4B76-8E18-E7FAC4B6A2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0510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3C1B3-707A-8226-2BBA-B0407A02C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B822D5-A724-5675-1994-CD0F54776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BF30F2-989F-1751-DCFD-F47E6D425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B4E4E-8077-4C97-B748-CA0A93E23615}" type="datetimeFigureOut">
              <a:rPr lang="en-GB" smtClean="0"/>
              <a:t>18/07/2026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5337E-9519-F65A-EB23-5DDA9313F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545C22-FD4B-9B2F-6ABF-C2952D0F4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A142C-C709-4B76-8E18-E7FAC4B6A2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4147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3B8ED-69C7-1604-8FC9-2BB0B28D7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A607DF-AA12-F377-A650-C9240F375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E3A3D-8D15-D8C5-E333-5137D0840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B4E4E-8077-4C97-B748-CA0A93E23615}" type="datetimeFigureOut">
              <a:rPr lang="en-GB" smtClean="0"/>
              <a:t>18/07/2026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5BD370-E2B8-ADE9-1DF1-842E6E796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99C36-2B71-068B-20CB-6C7D484C2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A142C-C709-4B76-8E18-E7FAC4B6A2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3058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56860-B01C-57F7-7D5E-DC8E52F0F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8DA9C-F657-3260-0822-D925ECF195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E9D989-ED92-2A3A-BC58-4DD6E4C6E0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F3CF89-4726-5668-F5EC-7A42A5CA2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B4E4E-8077-4C97-B748-CA0A93E23615}" type="datetimeFigureOut">
              <a:rPr lang="en-GB" smtClean="0"/>
              <a:t>18/07/2026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74A21D-A352-D949-360C-9B22BC812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A587BC-992F-B80B-DDA5-18497C1AE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A142C-C709-4B76-8E18-E7FAC4B6A2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7146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8C8F2-6E0D-B858-434E-8FE38FFCE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B4A68E-DBA3-283F-F090-0FCBE2014A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77792C-417D-2301-3598-CBDDF26C7E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677B40-E692-5D7A-F711-F121C99E4D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CD3FE6-8739-FCA4-6E4D-D8464E210F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40A4CF-E17F-D75E-7F46-4CCD405AB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B4E4E-8077-4C97-B748-CA0A93E23615}" type="datetimeFigureOut">
              <a:rPr lang="en-GB" smtClean="0"/>
              <a:t>18/07/2026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BF5A06-9F88-5A5C-BF2C-9E75CEF27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32E49E-B49D-FEFC-9F25-25B5F7377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A142C-C709-4B76-8E18-E7FAC4B6A2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7095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8E193-8BE0-7279-F23E-8A1459244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064F6B-14CB-8B5D-FA5F-83866227D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B4E4E-8077-4C97-B748-CA0A93E23615}" type="datetimeFigureOut">
              <a:rPr lang="en-GB" smtClean="0"/>
              <a:t>18/07/2026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682C12-0E2D-740E-BCE1-A027C0A05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023242-5490-4A8E-7B7B-25B5D89E8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A142C-C709-4B76-8E18-E7FAC4B6A2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3149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1F6FBA-93F2-3EA3-49AE-E32E50357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B4E4E-8077-4C97-B748-CA0A93E23615}" type="datetimeFigureOut">
              <a:rPr lang="en-GB" smtClean="0"/>
              <a:t>18/07/2026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95F744-490A-008D-509A-A59070053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88181-7655-E4C3-A0E9-7F795A74C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A142C-C709-4B76-8E18-E7FAC4B6A2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0434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F4513-919D-DCE3-BE89-D4AC9D273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76846-D918-7746-2E22-88BF56DF3D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DB7346-20D4-7DC9-E81F-1E4A12C2E8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65A4A5-A5A6-6ABB-3A82-8F53DEBEF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B4E4E-8077-4C97-B748-CA0A93E23615}" type="datetimeFigureOut">
              <a:rPr lang="en-GB" smtClean="0"/>
              <a:t>18/07/2026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FDED08-F69E-06F1-5ED7-01A65F1BA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5350B9-6358-6443-953F-203EEBA98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A142C-C709-4B76-8E18-E7FAC4B6A2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3671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3752D-16A8-D534-9760-15A135A74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262957-6804-9AC4-5762-E876E5F020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B414AB-F370-A6C4-C59F-5CF90AC316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6043D1-AD2C-3E07-CBC3-6DCC96EA1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B4E4E-8077-4C97-B748-CA0A93E23615}" type="datetimeFigureOut">
              <a:rPr lang="en-GB" smtClean="0"/>
              <a:t>18/07/2026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91DEA0-876E-42E2-76F0-C9EF2B74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ADA93B-E68B-9F68-02C0-A7DE50514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A142C-C709-4B76-8E18-E7FAC4B6A2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4297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9F8F1-DC45-A2EA-8364-90BB977B8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E8B8DC-C4BA-EF01-48E2-1EE7FB4511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D70C7-AA0D-251E-AE04-A05404EC5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B4E4E-8077-4C97-B748-CA0A93E23615}" type="datetimeFigureOut">
              <a:rPr lang="en-GB" smtClean="0"/>
              <a:t>18/07/2026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1A664B-FF48-9FF2-3C72-8AF207A77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63E04B-FB91-CFD8-5BA0-44EF20180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A142C-C709-4B76-8E18-E7FAC4B6A2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9926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E6B458-AD43-57A8-0199-E58D4AFAC0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8A82FD-8A21-B97A-D0FD-604E9826FE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CF322-FA0A-C4F7-CDAE-2E91DA654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B4E4E-8077-4C97-B748-CA0A93E23615}" type="datetimeFigureOut">
              <a:rPr lang="en-GB" smtClean="0"/>
              <a:t>18/07/2026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1C9E03-4DC2-4182-A53B-62409A4D8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69CAB-B847-5192-FB92-819BF44B9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A142C-C709-4B76-8E18-E7FAC4B6A2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9683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3AE632-F249-6B82-7607-F1F9FA0AE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21235E-CC53-E3B7-B7EF-9F7008D47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637022-B016-858F-08AC-07668134EE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AB4E4E-8077-4C97-B748-CA0A93E23615}" type="datetimeFigureOut">
              <a:rPr lang="en-GB" smtClean="0"/>
              <a:t>18/07/2026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18AB30-E92B-6207-A10F-B6C5F83B87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784E4-B371-28E6-38E2-4B14B027E4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3A142C-C709-4B76-8E18-E7FAC4B6A2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4326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The diagram illustrates the acorn count for two different tree types, Super Producer (Tree 36) and Poor Producer (Tree 27), over the years from 2020 to 2023, showing a higher count for the Super Producer.&#10;&#10;AI-generated content may be incorrect.">
            <a:extLst>
              <a:ext uri="{FF2B5EF4-FFF2-40B4-BE49-F238E27FC236}">
                <a16:creationId xmlns:a16="http://schemas.microsoft.com/office/drawing/2014/main" id="{5B10AE9E-FA45-A75F-37EE-2EF44DAB4A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8159" y="2109694"/>
            <a:ext cx="2552558" cy="2552558"/>
          </a:xfrm>
          <a:prstGeom prst="rect">
            <a:avLst/>
          </a:prstGeom>
        </p:spPr>
      </p:pic>
      <p:pic>
        <p:nvPicPr>
          <p:cNvPr id="5" name="Picture 4" descr="The image depicts a graph comparing the number of mature acorns, immature acorns, enlarged cups, and galls observed in a study across three consecutive years.&#10;&#10;AI-generated content may be incorrect.">
            <a:extLst>
              <a:ext uri="{FF2B5EF4-FFF2-40B4-BE49-F238E27FC236}">
                <a16:creationId xmlns:a16="http://schemas.microsoft.com/office/drawing/2014/main" id="{AAC4CF56-E9D4-6C6B-CE1E-8BBC171AC0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734" y="1269487"/>
            <a:ext cx="4319025" cy="43190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4A75E5F-B729-C825-975E-4933E3A9A613}"/>
              </a:ext>
            </a:extLst>
          </p:cNvPr>
          <p:cNvSpPr txBox="1"/>
          <p:nvPr/>
        </p:nvSpPr>
        <p:spPr>
          <a:xfrm>
            <a:off x="2729241" y="1966258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DC7411-6179-7AFA-4C50-7ED50009CFC0}"/>
              </a:ext>
            </a:extLst>
          </p:cNvPr>
          <p:cNvSpPr txBox="1"/>
          <p:nvPr/>
        </p:nvSpPr>
        <p:spPr>
          <a:xfrm>
            <a:off x="5367850" y="1186330"/>
            <a:ext cx="4042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882499-6E39-B3A4-27A5-331C157DA2A4}"/>
              </a:ext>
            </a:extLst>
          </p:cNvPr>
          <p:cNvSpPr txBox="1"/>
          <p:nvPr/>
        </p:nvSpPr>
        <p:spPr>
          <a:xfrm>
            <a:off x="6661756" y="1186330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AD2ACF-C6AE-7F19-5505-164923104E03}"/>
              </a:ext>
            </a:extLst>
          </p:cNvPr>
          <p:cNvSpPr txBox="1"/>
          <p:nvPr/>
        </p:nvSpPr>
        <p:spPr>
          <a:xfrm>
            <a:off x="8070567" y="1186330"/>
            <a:ext cx="4042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4C474CF-25AC-4064-314F-FD4439EBE667}"/>
              </a:ext>
            </a:extLst>
          </p:cNvPr>
          <p:cNvSpPr txBox="1"/>
          <p:nvPr/>
        </p:nvSpPr>
        <p:spPr>
          <a:xfrm>
            <a:off x="5367850" y="3275106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F52E420-D884-882B-410C-406615A3AB7B}"/>
              </a:ext>
            </a:extLst>
          </p:cNvPr>
          <p:cNvSpPr txBox="1"/>
          <p:nvPr/>
        </p:nvSpPr>
        <p:spPr>
          <a:xfrm>
            <a:off x="6661756" y="3275106"/>
            <a:ext cx="3048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2058460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281507E-5119-5D98-1980-EF55B25ED8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36487" y="1269487"/>
            <a:ext cx="4319025" cy="43190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AF86B58-51C7-672D-8B54-22AE1630AC6C}"/>
              </a:ext>
            </a:extLst>
          </p:cNvPr>
          <p:cNvSpPr txBox="1"/>
          <p:nvPr/>
        </p:nvSpPr>
        <p:spPr>
          <a:xfrm>
            <a:off x="3876723" y="890493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8381C4-5099-8FCB-6513-39B37D54C9FF}"/>
              </a:ext>
            </a:extLst>
          </p:cNvPr>
          <p:cNvSpPr txBox="1"/>
          <p:nvPr/>
        </p:nvSpPr>
        <p:spPr>
          <a:xfrm>
            <a:off x="6095999" y="890493"/>
            <a:ext cx="4042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633792-D4F6-4F73-98D9-DB9CE3741C92}"/>
              </a:ext>
            </a:extLst>
          </p:cNvPr>
          <p:cNvSpPr txBox="1"/>
          <p:nvPr/>
        </p:nvSpPr>
        <p:spPr>
          <a:xfrm>
            <a:off x="3876723" y="2876175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AF05CC-04CB-3029-2D21-0736644325BE}"/>
              </a:ext>
            </a:extLst>
          </p:cNvPr>
          <p:cNvSpPr txBox="1"/>
          <p:nvPr/>
        </p:nvSpPr>
        <p:spPr>
          <a:xfrm>
            <a:off x="6056499" y="2876175"/>
            <a:ext cx="4042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2052591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 descr="The image depicts a scatter plot illustrating the relationship between the values of cross-entropy and a series of K values (1 through 6).&#10;&#10;AI-generated content may be incorrect.">
            <a:extLst>
              <a:ext uri="{FF2B5EF4-FFF2-40B4-BE49-F238E27FC236}">
                <a16:creationId xmlns:a16="http://schemas.microsoft.com/office/drawing/2014/main" id="{43AA5D2A-B5E1-CF0A-97D8-B989075CBF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3186" y="1554462"/>
            <a:ext cx="1798324" cy="179832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5CD2E4E-AA79-4224-8F7A-F6D5FC2F5CB9}"/>
              </a:ext>
            </a:extLst>
          </p:cNvPr>
          <p:cNvSpPr txBox="1"/>
          <p:nvPr/>
        </p:nvSpPr>
        <p:spPr>
          <a:xfrm>
            <a:off x="4802007" y="1138062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pic>
        <p:nvPicPr>
          <p:cNvPr id="27" name="Picture 26" descr="The graph shows a scatter plot with a line of best fit, indicating that 15% of the variance in the data is explained by the first principal component (PC1).&#10;&#10;AI-generated content may be incorrect.">
            <a:extLst>
              <a:ext uri="{FF2B5EF4-FFF2-40B4-BE49-F238E27FC236}">
                <a16:creationId xmlns:a16="http://schemas.microsoft.com/office/drawing/2014/main" id="{35FAAA96-B2E8-E7D7-4463-0B8420DA8D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9901" y="1556267"/>
            <a:ext cx="1798324" cy="1798324"/>
          </a:xfrm>
          <a:prstGeom prst="rect">
            <a:avLst/>
          </a:prstGeom>
        </p:spPr>
      </p:pic>
      <p:pic>
        <p:nvPicPr>
          <p:cNvPr id="37" name="Picture 36" descr="The image displays a scatter plot with data points for various gene identifiers (Ox002084, Ox002085, Ox002114, Ox002090) and their expression levels, showing PC2 as a variable with a 5.67% contribution and PC1 as another variable with a 5.75% contribution.&#10;&#10;AI-generated content may be incorrect.">
            <a:extLst>
              <a:ext uri="{FF2B5EF4-FFF2-40B4-BE49-F238E27FC236}">
                <a16:creationId xmlns:a16="http://schemas.microsoft.com/office/drawing/2014/main" id="{4C52FD3F-E27A-3F8C-CE70-51A363CC35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9901" y="3543304"/>
            <a:ext cx="1798324" cy="1798324"/>
          </a:xfrm>
          <a:prstGeom prst="rect">
            <a:avLst/>
          </a:prstGeom>
        </p:spPr>
      </p:pic>
      <p:pic>
        <p:nvPicPr>
          <p:cNvPr id="39" name="Picture 38" descr="The diagram represents a comparison of gene expression levels for different genes (Ox002095, Ox002114, Ox002090, Ox002086) across two conditions (PC3 and PC2), with values indicating relative expression levels and associated p-values.&#10;&#10;AI-generated content may be incorrect.">
            <a:extLst>
              <a:ext uri="{FF2B5EF4-FFF2-40B4-BE49-F238E27FC236}">
                <a16:creationId xmlns:a16="http://schemas.microsoft.com/office/drawing/2014/main" id="{7484E9B5-A160-0259-F8D3-8F6424438E4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3186" y="3543304"/>
            <a:ext cx="1798324" cy="179832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0B47FC57-8FEF-D2AB-189D-12FBD3E42497}"/>
              </a:ext>
            </a:extLst>
          </p:cNvPr>
          <p:cNvSpPr txBox="1"/>
          <p:nvPr/>
        </p:nvSpPr>
        <p:spPr>
          <a:xfrm>
            <a:off x="6821098" y="1138062"/>
            <a:ext cx="4042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BA33A1B-C55E-78CB-E8DB-F141FB44F08E}"/>
              </a:ext>
            </a:extLst>
          </p:cNvPr>
          <p:cNvSpPr txBox="1"/>
          <p:nvPr/>
        </p:nvSpPr>
        <p:spPr>
          <a:xfrm>
            <a:off x="4802007" y="3186435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1A2C6A0-7B46-16FA-699D-BBB784453FA8}"/>
              </a:ext>
            </a:extLst>
          </p:cNvPr>
          <p:cNvSpPr txBox="1"/>
          <p:nvPr/>
        </p:nvSpPr>
        <p:spPr>
          <a:xfrm>
            <a:off x="6821098" y="3186435"/>
            <a:ext cx="4042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001782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7EC15B2-917B-246F-2B1A-9977F85912A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395" y="0"/>
            <a:ext cx="5731510" cy="1854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276B77E-3543-2671-79CB-BF102FB74BC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395" y="1854835"/>
            <a:ext cx="5731510" cy="1854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AA97A1A-6B9D-2732-756A-4F041E891FA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395" y="3709670"/>
            <a:ext cx="5731510" cy="1854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BB6EC7-2A38-8068-9DD0-A9C339D7AF9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395" y="5564505"/>
            <a:ext cx="5731510" cy="1854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2730141-53D4-3CDF-6FC1-BE16ED4F887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395" y="7419340"/>
            <a:ext cx="5731510" cy="18548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45839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</Words>
  <Application>Microsoft Office PowerPoint</Application>
  <PresentationFormat>Widescreen</PresentationFormat>
  <Paragraphs>15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Tin Hang Hung</dc:creator>
  <cp:lastModifiedBy>Tin Hang Hung</cp:lastModifiedBy>
  <cp:revision>6</cp:revision>
  <dcterms:created xsi:type="dcterms:W3CDTF">2026-06-22T08:44:34Z</dcterms:created>
  <dcterms:modified xsi:type="dcterms:W3CDTF">2026-07-17T23:07:44Z</dcterms:modified>
</cp:coreProperties>
</file>